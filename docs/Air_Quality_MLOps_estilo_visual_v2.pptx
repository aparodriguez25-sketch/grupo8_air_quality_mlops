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high_tech_infographic_presentation_cov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Problema y objetivo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10515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9808" y="1353312"/>
            <a:ext cx="566928" cy="566928"/>
          </a:xfrm>
          <a:prstGeom prst="ellipse">
            <a:avLst/>
          </a:prstGeom>
          <a:solidFill>
            <a:srgbClr val="E8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134416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1298448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7283B"/>
                </a:solidFill>
                <a:latin typeface="Aptos"/>
              </a:rPr>
              <a:t>PROBLEMA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1874519"/>
            <a:ext cx="292608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283539"/>
                </a:solidFill>
                <a:latin typeface="Aptos"/>
              </a:rPr>
              <a:t>Los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datos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calidad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del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aire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cambian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con el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tiempo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. El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modelo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debe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predecir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C6H6_GT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una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hora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hacia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adelante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seguir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siendo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confiable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cuando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cambie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la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distribución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los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83539"/>
                </a:solidFill>
                <a:latin typeface="Aptos"/>
              </a:rPr>
              <a:t>datos</a:t>
            </a:r>
            <a:r>
              <a:rPr sz="1200" b="0" dirty="0">
                <a:solidFill>
                  <a:srgbClr val="283539"/>
                </a:solidFill>
                <a:latin typeface="Aptos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160520"/>
            <a:ext cx="2926080" cy="822960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425196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1A646"/>
                </a:solidFill>
                <a:latin typeface="Aptos"/>
              </a:rPr>
              <a:t>Necesidad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26280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539"/>
                </a:solidFill>
                <a:latin typeface="Aptos"/>
              </a:rPr>
              <a:t>Predecir + monitorear + detectar cambios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0515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Oval 31"/>
          <p:cNvSpPr/>
          <p:nvPr/>
        </p:nvSpPr>
        <p:spPr>
          <a:xfrm>
            <a:off x="4461373" y="1247931"/>
            <a:ext cx="566928" cy="566928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53712" y="1374609"/>
            <a:ext cx="374904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6944" y="1298448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7283B"/>
                </a:solidFill>
                <a:latin typeface="Aptos"/>
              </a:rPr>
              <a:t>OBJETIVO</a:t>
            </a:r>
          </a:p>
        </p:txBody>
      </p:sp>
      <p:sp>
        <p:nvSpPr>
          <p:cNvPr id="35" name="Oval 34"/>
          <p:cNvSpPr/>
          <p:nvPr/>
        </p:nvSpPr>
        <p:spPr>
          <a:xfrm>
            <a:off x="4617720" y="1965960"/>
            <a:ext cx="310896" cy="310896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19568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190195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 err="1">
                <a:solidFill>
                  <a:srgbClr val="283539"/>
                </a:solidFill>
                <a:latin typeface="Aptos"/>
              </a:rPr>
              <a:t>Preparar</a:t>
            </a:r>
            <a:r>
              <a:rPr sz="1050" b="0" dirty="0">
                <a:solidFill>
                  <a:srgbClr val="283539"/>
                </a:solidFill>
                <a:latin typeface="Aptos"/>
              </a:rPr>
              <a:t> y </a:t>
            </a:r>
            <a:r>
              <a:rPr sz="1050" b="0" dirty="0" err="1">
                <a:solidFill>
                  <a:srgbClr val="283539"/>
                </a:solidFill>
                <a:latin typeface="Aptos"/>
              </a:rPr>
              <a:t>transformar</a:t>
            </a:r>
            <a:r>
              <a:rPr sz="105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83539"/>
                </a:solidFill>
                <a:latin typeface="Aptos"/>
              </a:rPr>
              <a:t>los</a:t>
            </a:r>
            <a:r>
              <a:rPr sz="1050" b="0" dirty="0">
                <a:solidFill>
                  <a:srgbClr val="28353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283539"/>
                </a:solidFill>
                <a:latin typeface="Aptos"/>
              </a:rPr>
              <a:t>datos</a:t>
            </a:r>
            <a:endParaRPr sz="1050" b="0" dirty="0">
              <a:solidFill>
                <a:srgbClr val="283539"/>
              </a:solidFill>
              <a:latin typeface="Apto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4617720" y="2560320"/>
            <a:ext cx="310896" cy="310896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17720" y="255117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249631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Entrenar y registrar el modelo</a:t>
            </a:r>
          </a:p>
        </p:txBody>
      </p:sp>
      <p:sp>
        <p:nvSpPr>
          <p:cNvPr id="41" name="Oval 40"/>
          <p:cNvSpPr/>
          <p:nvPr/>
        </p:nvSpPr>
        <p:spPr>
          <a:xfrm>
            <a:off x="4617720" y="3154680"/>
            <a:ext cx="310896" cy="310896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314553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7488" y="309067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Exponer predicciones mediante API</a:t>
            </a:r>
          </a:p>
        </p:txBody>
      </p:sp>
      <p:sp>
        <p:nvSpPr>
          <p:cNvPr id="44" name="Oval 43"/>
          <p:cNvSpPr/>
          <p:nvPr/>
        </p:nvSpPr>
        <p:spPr>
          <a:xfrm>
            <a:off x="4617720" y="3749039"/>
            <a:ext cx="310896" cy="310896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17720" y="373989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47488" y="368503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Ejecutar la aplicación con Docker</a:t>
            </a:r>
          </a:p>
        </p:txBody>
      </p:sp>
      <p:sp>
        <p:nvSpPr>
          <p:cNvPr id="47" name="Oval 46"/>
          <p:cNvSpPr/>
          <p:nvPr/>
        </p:nvSpPr>
        <p:spPr>
          <a:xfrm>
            <a:off x="4617720" y="4343400"/>
            <a:ext cx="310896" cy="310896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17720" y="43342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7488" y="427939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Detectar drift y apoyar decisiones</a:t>
            </a:r>
          </a:p>
        </p:txBody>
      </p:sp>
      <p:sp>
        <p:nvSpPr>
          <p:cNvPr id="50" name="Oval 49"/>
          <p:cNvSpPr/>
          <p:nvPr/>
        </p:nvSpPr>
        <p:spPr>
          <a:xfrm>
            <a:off x="8503920" y="1325880"/>
            <a:ext cx="2423160" cy="2423160"/>
          </a:xfrm>
          <a:prstGeom prst="ellipse">
            <a:avLst/>
          </a:prstGeom>
          <a:solidFill>
            <a:srgbClr val="EDF7E9"/>
          </a:solidFill>
          <a:ln>
            <a:solidFill>
              <a:srgbClr val="C6D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915400" y="1737360"/>
            <a:ext cx="1600200" cy="1600200"/>
          </a:xfrm>
          <a:prstGeom prst="ellipse">
            <a:avLst/>
          </a:prstGeom>
          <a:solidFill>
            <a:srgbClr val="FFFFFF"/>
          </a:solidFill>
          <a:ln>
            <a:solidFill>
              <a:srgbClr val="51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308592" y="2130552"/>
            <a:ext cx="804672" cy="804672"/>
          </a:xfrm>
          <a:prstGeom prst="ellipse">
            <a:avLst/>
          </a:prstGeom>
          <a:solidFill>
            <a:srgbClr val="EDF7E9"/>
          </a:solidFill>
          <a:ln>
            <a:solidFill>
              <a:srgbClr val="51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08592" y="2267712"/>
            <a:ext cx="8046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1h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406908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283B"/>
                </a:solidFill>
                <a:latin typeface="Aptos"/>
              </a:rPr>
              <a:t>Predicción futura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Datos y preparación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8912" y="1097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88719" y="1353312"/>
            <a:ext cx="475488" cy="475488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19" y="13441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3" y="1901952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283B"/>
                </a:solidFill>
                <a:latin typeface="Aptos"/>
              </a:rPr>
              <a:t>Origen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3" y="2267712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97A3"/>
                </a:solidFill>
                <a:latin typeface="Aptos"/>
              </a:rPr>
              <a:t>SQL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3" y="276148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D6B6E"/>
                </a:solidFill>
                <a:latin typeface="Aptos"/>
              </a:rPr>
              <a:t>dbo.AirQuality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1097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93008" y="1353312"/>
            <a:ext cx="475488" cy="475488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93008" y="13441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" y="1901952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283B"/>
                </a:solidFill>
                <a:latin typeface="Aptos"/>
              </a:rPr>
              <a:t>Inicial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2267712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1A646"/>
                </a:solidFill>
                <a:latin typeface="Aptos"/>
              </a:rPr>
              <a:t>9.471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276148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D6B6E"/>
                </a:solidFill>
                <a:latin typeface="Aptos"/>
              </a:rPr>
              <a:t>registros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47488" y="1097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97296" y="1353312"/>
            <a:ext cx="475488" cy="475488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97296" y="13441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1901952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283B"/>
                </a:solidFill>
                <a:latin typeface="Aptos"/>
              </a:rPr>
              <a:t>Limpieza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267712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9CCF3E"/>
                </a:solidFill>
                <a:latin typeface="Aptos"/>
              </a:rPr>
              <a:t>9.357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79" y="276148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D6B6E"/>
                </a:solidFill>
                <a:latin typeface="Aptos"/>
              </a:rPr>
              <a:t>registros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51776" y="1097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101584" y="1353312"/>
            <a:ext cx="475488" cy="475488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01584" y="13441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6368" y="1901952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283B"/>
                </a:solidFill>
                <a:latin typeface="Aptos"/>
              </a:rPr>
              <a:t>Modelado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6368" y="2267712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97A3"/>
                </a:solidFill>
                <a:latin typeface="Aptos"/>
              </a:rPr>
              <a:t>8.224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276148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D6B6E"/>
                </a:solidFill>
                <a:latin typeface="Aptos"/>
              </a:rPr>
              <a:t>registros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56064" y="1097280"/>
            <a:ext cx="1965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405872" y="1353312"/>
            <a:ext cx="475488" cy="475488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405872" y="13441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0656" y="1901952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283B"/>
                </a:solidFill>
                <a:latin typeface="Aptos"/>
              </a:rPr>
              <a:t>Predictores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0656" y="2267712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1A646"/>
                </a:solidFill>
                <a:latin typeface="Aptos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0656" y="276148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D6B6E"/>
                </a:solidFill>
                <a:latin typeface="Aptos"/>
              </a:rPr>
              <a:t>variables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3794760"/>
            <a:ext cx="10835640" cy="1325880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977639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7283B"/>
                </a:solidFill>
                <a:latin typeface="Aptos"/>
              </a:rPr>
              <a:t>Ingeniería de características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" y="4389120"/>
            <a:ext cx="8138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539"/>
                </a:solidFill>
                <a:latin typeface="Aptos"/>
              </a:rPr>
              <a:t>Hora • día • mes • lags 1, 2, 3, 24 y 168 • medias móviles • desviaciones móviles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411480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1A646"/>
                </a:solidFill>
                <a:latin typeface="Aptos"/>
              </a:rPr>
              <a:t>Objetivo → target_next_hour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07283B"/>
                </a:solidFill>
                <a:latin typeface="Aptos"/>
              </a:rPr>
              <a:t>Modelado</a:t>
            </a:r>
            <a:r>
              <a:rPr sz="2400" b="1" dirty="0">
                <a:solidFill>
                  <a:srgbClr val="07283B"/>
                </a:solidFill>
                <a:latin typeface="Aptos"/>
              </a:rPr>
              <a:t> y </a:t>
            </a:r>
            <a:r>
              <a:rPr sz="2400" b="1" dirty="0" err="1">
                <a:solidFill>
                  <a:srgbClr val="07283B"/>
                </a:solidFill>
                <a:latin typeface="Aptos"/>
              </a:rPr>
              <a:t>MLflow</a:t>
            </a:r>
            <a:endParaRPr sz="2400" b="1" dirty="0">
              <a:solidFill>
                <a:srgbClr val="07283B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105156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13258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7283B"/>
                </a:solidFill>
                <a:latin typeface="Aptos"/>
              </a:rPr>
              <a:t>Modelos evaluados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1874519"/>
            <a:ext cx="365760" cy="365760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186537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180136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7283B"/>
                </a:solidFill>
                <a:latin typeface="Aptos"/>
              </a:rPr>
              <a:t>Decision 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207568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D6B6E"/>
                </a:solidFill>
                <a:latin typeface="Aptos"/>
              </a:rPr>
              <a:t>Árbol de decisión</a:t>
            </a:r>
          </a:p>
        </p:txBody>
      </p:sp>
      <p:sp>
        <p:nvSpPr>
          <p:cNvPr id="29" name="Oval 28"/>
          <p:cNvSpPr/>
          <p:nvPr/>
        </p:nvSpPr>
        <p:spPr>
          <a:xfrm>
            <a:off x="749808" y="2651760"/>
            <a:ext cx="365760" cy="3657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264261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257860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7283B"/>
                </a:solidFill>
                <a:latin typeface="Aptos"/>
              </a:rPr>
              <a:t>MLP Regressor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285292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D6B6E"/>
                </a:solidFill>
                <a:latin typeface="Aptos"/>
              </a:rPr>
              <a:t>Red neuronal</a:t>
            </a:r>
          </a:p>
        </p:txBody>
      </p:sp>
      <p:sp>
        <p:nvSpPr>
          <p:cNvPr id="33" name="Oval 32"/>
          <p:cNvSpPr/>
          <p:nvPr/>
        </p:nvSpPr>
        <p:spPr>
          <a:xfrm>
            <a:off x="749808" y="3429000"/>
            <a:ext cx="365760" cy="3657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341985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335584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7283B"/>
                </a:solidFill>
                <a:latin typeface="Aptos"/>
              </a:rPr>
              <a:t>SVR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63016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D6B6E"/>
                </a:solidFill>
                <a:latin typeface="Aptos"/>
              </a:rPr>
              <a:t>Support Vector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31596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7283B"/>
                </a:solidFill>
                <a:latin typeface="Aptos"/>
              </a:rPr>
              <a:t>Métricas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00200" y="4224528"/>
            <a:ext cx="621792" cy="658368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00200" y="4416552"/>
            <a:ext cx="6217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1A646"/>
                </a:solidFill>
                <a:latin typeface="Aptos"/>
              </a:rPr>
              <a:t>RMSE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50008" y="4224528"/>
            <a:ext cx="621792" cy="658368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50008" y="4416552"/>
            <a:ext cx="6217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1A646"/>
                </a:solidFill>
                <a:latin typeface="Aptos"/>
              </a:rPr>
              <a:t>MAE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99815" y="4224528"/>
            <a:ext cx="621792" cy="658368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99815" y="4416552"/>
            <a:ext cx="6217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1A646"/>
                </a:solidFill>
                <a:latin typeface="Aptos"/>
              </a:rPr>
              <a:t>R²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60" y="1051560"/>
            <a:ext cx="7178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00600" y="1328220"/>
            <a:ext cx="1828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MX" sz="2400" b="1" dirty="0">
                <a:solidFill>
                  <a:srgbClr val="0097A3"/>
                </a:solidFill>
                <a:latin typeface="Aptos"/>
              </a:rPr>
              <a:t>ML</a:t>
            </a:r>
            <a:r>
              <a:rPr sz="2400" b="1" dirty="0">
                <a:solidFill>
                  <a:srgbClr val="0097A3"/>
                </a:solidFill>
                <a:latin typeface="Aptos"/>
              </a:rPr>
              <a:t>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175564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7283B"/>
                </a:solidFill>
                <a:latin typeface="Aptos"/>
              </a:rPr>
              <a:t>Seguimiento del ciclo de entrenamiento</a:t>
            </a:r>
          </a:p>
        </p:txBody>
      </p:sp>
      <p:sp>
        <p:nvSpPr>
          <p:cNvPr id="47" name="Oval 46"/>
          <p:cNvSpPr/>
          <p:nvPr/>
        </p:nvSpPr>
        <p:spPr>
          <a:xfrm>
            <a:off x="4828032" y="2331720"/>
            <a:ext cx="310896" cy="310896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28032" y="232257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66944" y="2267712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Registro de experimentos</a:t>
            </a:r>
          </a:p>
        </p:txBody>
      </p:sp>
      <p:sp>
        <p:nvSpPr>
          <p:cNvPr id="50" name="Oval 49"/>
          <p:cNvSpPr/>
          <p:nvPr/>
        </p:nvSpPr>
        <p:spPr>
          <a:xfrm>
            <a:off x="4828032" y="2907791"/>
            <a:ext cx="310896" cy="310896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28032" y="289864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6944" y="2843784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Parámetros y métricas</a:t>
            </a:r>
          </a:p>
        </p:txBody>
      </p:sp>
      <p:sp>
        <p:nvSpPr>
          <p:cNvPr id="53" name="Oval 52"/>
          <p:cNvSpPr/>
          <p:nvPr/>
        </p:nvSpPr>
        <p:spPr>
          <a:xfrm>
            <a:off x="4828032" y="3483863"/>
            <a:ext cx="310896" cy="310896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28032" y="347472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66944" y="3419856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Comparación de ejecuciones</a:t>
            </a:r>
          </a:p>
        </p:txBody>
      </p:sp>
      <p:sp>
        <p:nvSpPr>
          <p:cNvPr id="56" name="Oval 55"/>
          <p:cNvSpPr/>
          <p:nvPr/>
        </p:nvSpPr>
        <p:spPr>
          <a:xfrm>
            <a:off x="4828032" y="4059935"/>
            <a:ext cx="310896" cy="310896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28032" y="4050791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66944" y="3995928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Artefacto del modelo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92440" y="1920240"/>
            <a:ext cx="2971800" cy="2514600"/>
          </a:xfrm>
          <a:prstGeom prst="roundRect">
            <a:avLst/>
          </a:prstGeom>
          <a:solidFill>
            <a:srgbClr val="F3F9F8"/>
          </a:solidFill>
          <a:ln>
            <a:solidFill>
              <a:srgbClr val="C1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458200" y="3337559"/>
            <a:ext cx="219456" cy="411480"/>
          </a:xfrm>
          <a:prstGeom prst="rect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869680" y="3017520"/>
            <a:ext cx="219456" cy="731520"/>
          </a:xfrm>
          <a:prstGeom prst="rect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281160" y="3182111"/>
            <a:ext cx="219456" cy="566928"/>
          </a:xfrm>
          <a:prstGeom prst="rect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692640" y="2852927"/>
            <a:ext cx="219456" cy="896112"/>
          </a:xfrm>
          <a:prstGeom prst="rect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104120" y="3090672"/>
            <a:ext cx="219456" cy="658368"/>
          </a:xfrm>
          <a:prstGeom prst="rect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/>
          <p:nvPr/>
        </p:nvCxnSpPr>
        <p:spPr>
          <a:xfrm flipV="1">
            <a:off x="8458200" y="2560320"/>
            <a:ext cx="411480" cy="274320"/>
          </a:xfrm>
          <a:prstGeom prst="line">
            <a:avLst/>
          </a:prstGeom>
          <a:ln w="19050">
            <a:solidFill>
              <a:srgbClr val="072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869680" y="2560320"/>
            <a:ext cx="411480" cy="182880"/>
          </a:xfrm>
          <a:prstGeom prst="line">
            <a:avLst/>
          </a:prstGeom>
          <a:ln w="19050">
            <a:solidFill>
              <a:srgbClr val="072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281160" y="2240280"/>
            <a:ext cx="411480" cy="502920"/>
          </a:xfrm>
          <a:prstGeom prst="line">
            <a:avLst/>
          </a:prstGeom>
          <a:ln w="19050">
            <a:solidFill>
              <a:srgbClr val="072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692640" y="2240280"/>
            <a:ext cx="411480" cy="228600"/>
          </a:xfrm>
          <a:prstGeom prst="line">
            <a:avLst/>
          </a:prstGeom>
          <a:ln w="19050">
            <a:solidFill>
              <a:srgbClr val="072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04120" y="2057400"/>
            <a:ext cx="411480" cy="411480"/>
          </a:xfrm>
          <a:prstGeom prst="line">
            <a:avLst/>
          </a:prstGeom>
          <a:ln w="19050">
            <a:solidFill>
              <a:srgbClr val="072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API y despliegue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1051560"/>
            <a:ext cx="3063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7240" y="1371600"/>
            <a:ext cx="566928" cy="566928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136245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132588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7283B"/>
                </a:solidFill>
                <a:latin typeface="Aptos"/>
              </a:rPr>
              <a:t>API 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1993392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539"/>
                </a:solidFill>
                <a:latin typeface="Aptos"/>
              </a:rPr>
              <a:t>Recibe los datos necesarios para la predicción, carga el modelo y devuelve el resultado.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20040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1A646"/>
                </a:solidFill>
                <a:latin typeface="Aptos"/>
              </a:rPr>
              <a:t>Flujo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611880"/>
            <a:ext cx="2331720" cy="365760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3648456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7283B"/>
                </a:solidFill>
                <a:latin typeface="Aptos"/>
              </a:rPr>
              <a:t>Entrada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114800"/>
            <a:ext cx="2331720" cy="365760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151376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7283B"/>
                </a:solidFill>
                <a:latin typeface="Aptos"/>
              </a:rPr>
              <a:t>Modelo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617720"/>
            <a:ext cx="2331720" cy="365760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654296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7283B"/>
                </a:solidFill>
                <a:latin typeface="Aptos"/>
              </a:rPr>
              <a:t>Predicción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86200" y="1051560"/>
            <a:ext cx="3063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160520" y="1371600"/>
            <a:ext cx="566928" cy="566928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60520" y="136245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132588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7283B"/>
                </a:solidFill>
                <a:latin typeface="Aptos"/>
              </a:rPr>
              <a:t>DOCKER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1993392"/>
            <a:ext cx="24688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539"/>
                </a:solidFill>
                <a:latin typeface="Aptos"/>
              </a:rPr>
              <a:t>El Dockerfile permite construir una imagen con la aplicación y sus dependencias para ejecutarla en un contenedor.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3657600"/>
            <a:ext cx="1965960" cy="1005840"/>
          </a:xfrm>
          <a:prstGeom prst="roundRect">
            <a:avLst/>
          </a:prstGeom>
          <a:solidFill>
            <a:srgbClr val="E9F5F1"/>
          </a:solidFill>
          <a:ln>
            <a:solidFill>
              <a:srgbClr val="009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3794760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97A3"/>
                </a:solidFill>
                <a:latin typeface="Aptos"/>
              </a:rPr>
              <a:t>CONTENEDOR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114800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283539"/>
                </a:solidFill>
                <a:latin typeface="Aptos"/>
              </a:rPr>
              <a:t>Aplicación + modelo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9480" y="1051560"/>
            <a:ext cx="4343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89520" y="13258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7283B"/>
                </a:solidFill>
                <a:latin typeface="Aptos"/>
              </a:rPr>
              <a:t>Predicción en producción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1920240"/>
            <a:ext cx="3200400" cy="1965960"/>
          </a:xfrm>
          <a:prstGeom prst="rect">
            <a:avLst/>
          </a:prstGeom>
          <a:solidFill>
            <a:srgbClr val="07283B"/>
          </a:solidFill>
          <a:ln>
            <a:solidFill>
              <a:srgbClr val="28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65008" y="2148840"/>
            <a:ext cx="2697480" cy="1463040"/>
          </a:xfrm>
          <a:prstGeom prst="rect">
            <a:avLst/>
          </a:prstGeom>
          <a:solidFill>
            <a:srgbClr val="EC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02752" y="237744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97A3"/>
                </a:solidFill>
                <a:latin typeface="Aptos"/>
              </a:rPr>
              <a:t>POST /predict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2752" y="278892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1A646"/>
                </a:solidFill>
                <a:latin typeface="Aptos"/>
              </a:rPr>
              <a:t>200 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3172968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3539"/>
                </a:solidFill>
                <a:latin typeface="Aptos"/>
              </a:rPr>
              <a:t>C6H6_GT → próxima hora</a:t>
            </a:r>
          </a:p>
        </p:txBody>
      </p:sp>
      <p:sp>
        <p:nvSpPr>
          <p:cNvPr id="50" name="Trapezoid 49"/>
          <p:cNvSpPr/>
          <p:nvPr/>
        </p:nvSpPr>
        <p:spPr>
          <a:xfrm>
            <a:off x="7543800" y="3886200"/>
            <a:ext cx="3749039" cy="457200"/>
          </a:xfrm>
          <a:prstGeom prst="trapezoid">
            <a:avLst/>
          </a:prstGeom>
          <a:solidFill>
            <a:srgbClr val="5A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09560" y="461772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283B"/>
                </a:solidFill>
                <a:latin typeface="Aptos"/>
              </a:rPr>
              <a:t>API + modelo +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Testing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1051560"/>
            <a:ext cx="5532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9808" y="1325880"/>
            <a:ext cx="384048" cy="384048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131673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142646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07283B"/>
                </a:solidFill>
                <a:latin typeface="Aptos"/>
              </a:rPr>
              <a:t>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1428896"/>
            <a:ext cx="341071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539"/>
                </a:solidFill>
                <a:latin typeface="Aptos"/>
              </a:rPr>
              <a:t>Validación de estructura, columnas y calidad.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404872"/>
            <a:ext cx="5532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9808" y="2679191"/>
            <a:ext cx="384048" cy="384048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2670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2739901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07283B"/>
                </a:solidFill>
                <a:latin typeface="Aptos"/>
              </a:rPr>
              <a:t>Modelo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2721613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283539"/>
                </a:solidFill>
                <a:latin typeface="Aptos"/>
              </a:rPr>
              <a:t>Carga del </a:t>
            </a:r>
            <a:r>
              <a:rPr sz="1000" b="0" dirty="0" err="1">
                <a:solidFill>
                  <a:srgbClr val="283539"/>
                </a:solidFill>
                <a:latin typeface="Aptos"/>
              </a:rPr>
              <a:t>artefacto</a:t>
            </a:r>
            <a:r>
              <a:rPr sz="1000" b="0" dirty="0">
                <a:solidFill>
                  <a:srgbClr val="283539"/>
                </a:solidFill>
                <a:latin typeface="Aptos"/>
              </a:rPr>
              <a:t> y </a:t>
            </a:r>
            <a:r>
              <a:rPr sz="1000" b="0" dirty="0" err="1">
                <a:solidFill>
                  <a:srgbClr val="283539"/>
                </a:solidFill>
                <a:latin typeface="Aptos"/>
              </a:rPr>
              <a:t>pruebas</a:t>
            </a:r>
            <a:r>
              <a:rPr sz="1000" b="0" dirty="0">
                <a:solidFill>
                  <a:srgbClr val="283539"/>
                </a:solidFill>
                <a:latin typeface="Aptos"/>
              </a:rPr>
              <a:t> del </a:t>
            </a:r>
            <a:r>
              <a:rPr sz="1000" b="0" dirty="0" err="1">
                <a:solidFill>
                  <a:srgbClr val="283539"/>
                </a:solidFill>
                <a:latin typeface="Aptos"/>
              </a:rPr>
              <a:t>modelo</a:t>
            </a:r>
            <a:r>
              <a:rPr sz="1000" b="0" dirty="0">
                <a:solidFill>
                  <a:srgbClr val="283539"/>
                </a:solidFill>
                <a:latin typeface="Aptos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758183"/>
            <a:ext cx="5532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49808" y="4032504"/>
            <a:ext cx="384048" cy="384048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40233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05156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995160" y="1508760"/>
            <a:ext cx="2057400" cy="2057400"/>
          </a:xfrm>
          <a:prstGeom prst="ellipse">
            <a:avLst/>
          </a:prstGeom>
          <a:solidFill>
            <a:srgbClr val="EDF7E9"/>
          </a:solidFill>
          <a:ln>
            <a:solidFill>
              <a:srgbClr val="51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95160" y="1993392"/>
            <a:ext cx="2057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 dirty="0">
                <a:solidFill>
                  <a:srgbClr val="51A646"/>
                </a:solidFill>
                <a:latin typeface="Aptos"/>
              </a:rPr>
              <a:t>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263347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07283B"/>
                </a:solidFill>
                <a:latin typeface="Aptos"/>
              </a:rPr>
              <a:t>PASSED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72600" y="1508760"/>
            <a:ext cx="1600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91472" y="16276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97A3"/>
                </a:solidFill>
                <a:latin typeface="Aptos"/>
              </a:rPr>
              <a:t>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162763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539"/>
                </a:solidFill>
                <a:latin typeface="Aptos"/>
              </a:rPr>
              <a:t>skipped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72600" y="2377439"/>
            <a:ext cx="1600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91472" y="249631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1A646"/>
                </a:solidFill>
                <a:latin typeface="Aptos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2952" y="249631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539"/>
                </a:solidFill>
                <a:latin typeface="Aptos"/>
              </a:rPr>
              <a:t>failed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72600" y="3246120"/>
            <a:ext cx="1600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91472" y="3364991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8B227"/>
                </a:solidFill>
                <a:latin typeface="Apto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2952" y="3364991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539"/>
                </a:solidFill>
                <a:latin typeface="Aptos"/>
              </a:rPr>
              <a:t>warnings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95160" y="4069080"/>
            <a:ext cx="4069080" cy="777240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69480" y="4242816"/>
            <a:ext cx="3520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283B"/>
                </a:solidFill>
                <a:latin typeface="Aptos"/>
              </a:rPr>
              <a:t>Las pruebas ejecutadas finalizaron sin fallos.</a:t>
            </a:r>
          </a:p>
        </p:txBody>
      </p:sp>
      <p:sp>
        <p:nvSpPr>
          <p:cNvPr id="53" name="TextBox 35">
            <a:extLst>
              <a:ext uri="{FF2B5EF4-FFF2-40B4-BE49-F238E27FC236}">
                <a16:creationId xmlns:a16="http://schemas.microsoft.com/office/drawing/2014/main" id="{003B0556-CDE0-B513-F32C-31E832150D92}"/>
              </a:ext>
            </a:extLst>
          </p:cNvPr>
          <p:cNvSpPr txBox="1"/>
          <p:nvPr/>
        </p:nvSpPr>
        <p:spPr>
          <a:xfrm>
            <a:off x="1335024" y="4160828"/>
            <a:ext cx="74980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7283B"/>
                </a:solidFill>
                <a:latin typeface="Aptos"/>
              </a:rPr>
              <a:t>API</a:t>
            </a:r>
          </a:p>
        </p:txBody>
      </p:sp>
      <p:sp>
        <p:nvSpPr>
          <p:cNvPr id="54" name="TextBox 36">
            <a:extLst>
              <a:ext uri="{FF2B5EF4-FFF2-40B4-BE49-F238E27FC236}">
                <a16:creationId xmlns:a16="http://schemas.microsoft.com/office/drawing/2014/main" id="{CE54B348-BE0C-A239-D53D-1825025CAA7F}"/>
              </a:ext>
            </a:extLst>
          </p:cNvPr>
          <p:cNvSpPr txBox="1"/>
          <p:nvPr/>
        </p:nvSpPr>
        <p:spPr>
          <a:xfrm>
            <a:off x="2286000" y="4157930"/>
            <a:ext cx="329184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283539"/>
                </a:solidFill>
                <a:latin typeface="Aptos"/>
              </a:rPr>
              <a:t>Endpoints, </a:t>
            </a:r>
            <a:r>
              <a:rPr sz="1000" b="0" dirty="0" err="1">
                <a:solidFill>
                  <a:srgbClr val="283539"/>
                </a:solidFill>
                <a:latin typeface="Aptos"/>
              </a:rPr>
              <a:t>respuestas</a:t>
            </a:r>
            <a:r>
              <a:rPr sz="1000" b="0" dirty="0">
                <a:solidFill>
                  <a:srgbClr val="283539"/>
                </a:solidFill>
                <a:latin typeface="Aptos"/>
              </a:rPr>
              <a:t> y </a:t>
            </a:r>
            <a:r>
              <a:rPr sz="1000" b="0" dirty="0" err="1">
                <a:solidFill>
                  <a:srgbClr val="283539"/>
                </a:solidFill>
                <a:latin typeface="Aptos"/>
              </a:rPr>
              <a:t>manejo</a:t>
            </a:r>
            <a:r>
              <a:rPr sz="1000" b="0" dirty="0">
                <a:solidFill>
                  <a:srgbClr val="283539"/>
                </a:solidFill>
                <a:latin typeface="Aptos"/>
              </a:rPr>
              <a:t> de </a:t>
            </a:r>
            <a:r>
              <a:rPr sz="1000" b="0" dirty="0" err="1">
                <a:solidFill>
                  <a:srgbClr val="283539"/>
                </a:solidFill>
                <a:latin typeface="Aptos"/>
              </a:rPr>
              <a:t>errores</a:t>
            </a:r>
            <a:r>
              <a:rPr sz="1000" b="0" dirty="0">
                <a:solidFill>
                  <a:srgbClr val="283539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Monitoreo en producción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1051560"/>
            <a:ext cx="3840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1353312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7283B"/>
                </a:solidFill>
                <a:latin typeface="Aptos"/>
              </a:rPr>
              <a:t>Qué se monitorea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1920240"/>
            <a:ext cx="329184" cy="329184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1911096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1856231"/>
            <a:ext cx="2423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Datos recibidos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2578608"/>
            <a:ext cx="329184" cy="329184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256946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2514600"/>
            <a:ext cx="2423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Cambios en la distribución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3236976"/>
            <a:ext cx="329184" cy="329184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22783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3172968"/>
            <a:ext cx="2423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Métricas del modelo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3895344"/>
            <a:ext cx="329184" cy="329184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88620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3831335"/>
            <a:ext cx="2423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83539"/>
                </a:solidFill>
                <a:latin typeface="Aptos"/>
              </a:rPr>
              <a:t>Alertas y evidencia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09160" y="1051560"/>
            <a:ext cx="6903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0" y="135331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97A3"/>
                </a:solidFill>
                <a:latin typeface="Aptos"/>
              </a:rPr>
              <a:t>Pendiente de integrar la implementación final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1783080"/>
            <a:ext cx="5394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539"/>
                </a:solidFill>
                <a:latin typeface="Aptos"/>
              </a:rPr>
              <a:t>Esta diapositiva se actualiza cuando el compañero suba Monitoring. No se incluyen métricas inventadas.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0" y="2743200"/>
            <a:ext cx="3749039" cy="1828800"/>
          </a:xfrm>
          <a:prstGeom prst="rect">
            <a:avLst/>
          </a:prstGeom>
          <a:solidFill>
            <a:srgbClr val="07283B"/>
          </a:solidFill>
          <a:ln>
            <a:solidFill>
              <a:srgbClr val="28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89320" y="2999232"/>
            <a:ext cx="3200400" cy="1280160"/>
          </a:xfrm>
          <a:prstGeom prst="rect">
            <a:avLst/>
          </a:prstGeom>
          <a:solidFill>
            <a:srgbClr val="EE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55080" y="3685032"/>
            <a:ext cx="228600" cy="320040"/>
          </a:xfrm>
          <a:prstGeom prst="rect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93992" y="3364991"/>
            <a:ext cx="228600" cy="640080"/>
          </a:xfrm>
          <a:prstGeom prst="rect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232904" y="3547872"/>
            <a:ext cx="228600" cy="457200"/>
          </a:xfrm>
          <a:prstGeom prst="rect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671816" y="3136391"/>
            <a:ext cx="228600" cy="868680"/>
          </a:xfrm>
          <a:prstGeom prst="rect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10728" y="3410712"/>
            <a:ext cx="228600" cy="594360"/>
          </a:xfrm>
          <a:prstGeom prst="rect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646920" y="3429000"/>
            <a:ext cx="749808" cy="749808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46920" y="3566160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7283B"/>
                </a:solidFill>
                <a:latin typeface="Aptos"/>
              </a:rPr>
              <a:t>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Drift de datos con PSI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1051560"/>
            <a:ext cx="3703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132588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097A3"/>
                </a:solidFill>
                <a:latin typeface="Aptos"/>
              </a:rPr>
              <a:t>PSI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137160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7283B"/>
                </a:solidFill>
                <a:latin typeface="Aptos"/>
              </a:rPr>
              <a:t>Population Stability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1874519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539"/>
                </a:solidFill>
                <a:latin typeface="Aptos"/>
              </a:rPr>
              <a:t>Compara la distribución de los datos nuevos con los datos de referencia.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" y="2743200"/>
            <a:ext cx="256032" cy="256032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2679192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7283B"/>
                </a:solidFill>
                <a:latin typeface="Aptos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267919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539"/>
                </a:solidFill>
                <a:latin typeface="Aptos"/>
              </a:rPr>
              <a:t>PSI &lt; 0,10</a:t>
            </a:r>
          </a:p>
        </p:txBody>
      </p:sp>
      <p:sp>
        <p:nvSpPr>
          <p:cNvPr id="30" name="Oval 29"/>
          <p:cNvSpPr/>
          <p:nvPr/>
        </p:nvSpPr>
        <p:spPr>
          <a:xfrm>
            <a:off x="841248" y="3310128"/>
            <a:ext cx="256032" cy="256032"/>
          </a:xfrm>
          <a:prstGeom prst="ellipse">
            <a:avLst/>
          </a:prstGeom>
          <a:solidFill>
            <a:srgbClr val="E8B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3246120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7283B"/>
                </a:solidFill>
                <a:latin typeface="Aptos"/>
              </a:rPr>
              <a:t>WARNING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32461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539"/>
                </a:solidFill>
                <a:latin typeface="Aptos"/>
              </a:rPr>
              <a:t>0,10 ≤ PSI &lt; 0,25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" y="3877056"/>
            <a:ext cx="256032" cy="256032"/>
          </a:xfrm>
          <a:prstGeom prst="ellipse">
            <a:avLst/>
          </a:prstGeom>
          <a:solidFill>
            <a:srgbClr val="CF3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34440" y="3813048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7283B"/>
                </a:solidFill>
                <a:latin typeface="Aptos"/>
              </a:rPr>
              <a:t>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2848" y="381304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539"/>
                </a:solidFill>
                <a:latin typeface="Aptos"/>
              </a:rPr>
              <a:t>PSI ≥ 0,25</a:t>
            </a:r>
          </a:p>
        </p:txBody>
      </p:sp>
      <p:pic>
        <p:nvPicPr>
          <p:cNvPr id="36" name="Picture 35" descr="psi_chart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826" y="1234440"/>
            <a:ext cx="6675120" cy="324612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663440" y="4617720"/>
            <a:ext cx="6217920" cy="658368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92040" y="4736592"/>
            <a:ext cx="5760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283B"/>
                </a:solidFill>
                <a:latin typeface="Aptos"/>
              </a:rPr>
              <a:t>Batch 1: OK   •   Batch 2: ALERT   •   Batch 3: WARNING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Simulación de drift controlado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1051560"/>
            <a:ext cx="3154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7240" y="1353312"/>
            <a:ext cx="530352" cy="530352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134416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132588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7283B"/>
                </a:solidFill>
                <a:latin typeface="Aptos"/>
              </a:rPr>
              <a:t>Simulación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1965960"/>
            <a:ext cx="25146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83539"/>
                </a:solidFill>
                <a:latin typeface="Aptos"/>
              </a:rPr>
              <a:t>Se tomó una copia del Batch 3 y se desplazó C6H6_GT en dos desviaciones estándar. Los datos originales no se modificaron.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886200"/>
            <a:ext cx="2514600" cy="868680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005072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1A646"/>
                </a:solidFill>
                <a:latin typeface="Aptos"/>
              </a:rPr>
              <a:t>Objetivo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279392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3539"/>
                </a:solidFill>
                <a:latin typeface="Aptos"/>
              </a:rPr>
              <a:t>Probar la sensibilidad del detector.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9080" y="1051560"/>
            <a:ext cx="3017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14173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283B"/>
                </a:solidFill>
                <a:latin typeface="Aptos"/>
              </a:rPr>
              <a:t>ANTES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0574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E8B227"/>
                </a:solidFill>
                <a:latin typeface="Aptos"/>
              </a:rPr>
              <a:t>0,1437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67004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8B227"/>
                </a:solidFill>
                <a:latin typeface="Aptos"/>
              </a:rPr>
              <a:t>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24612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097A3"/>
                </a:solidFill>
                <a:latin typeface="Aptos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977639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83539"/>
                </a:solidFill>
                <a:latin typeface="Aptos"/>
              </a:rPr>
              <a:t>Batch 3 original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1051560"/>
            <a:ext cx="4160520" cy="4526280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18120" y="141732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283B"/>
                </a:solidFill>
                <a:latin typeface="Aptos"/>
              </a:rPr>
              <a:t>DESPUÉS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05740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CF3F34"/>
                </a:solidFill>
                <a:latin typeface="Aptos"/>
              </a:rPr>
              <a:t>5,6954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267004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CF3F34"/>
                </a:solidFill>
                <a:latin typeface="Aptos"/>
              </a:rPr>
              <a:t>ALERT</a:t>
            </a:r>
          </a:p>
        </p:txBody>
      </p:sp>
      <p:sp>
        <p:nvSpPr>
          <p:cNvPr id="41" name="Oval 40"/>
          <p:cNvSpPr/>
          <p:nvPr/>
        </p:nvSpPr>
        <p:spPr>
          <a:xfrm>
            <a:off x="9212580" y="3200400"/>
            <a:ext cx="640080" cy="640080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2580" y="3207745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16052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283B"/>
                </a:solidFill>
                <a:latin typeface="Aptos"/>
              </a:rPr>
              <a:t>El PSI detectó claramente el cambio.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Arquitectura del sistema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2608" y="1325880"/>
            <a:ext cx="135331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9808" y="1554480"/>
            <a:ext cx="438912" cy="438912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154533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14884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7283B"/>
                </a:solidFill>
                <a:latin typeface="Aptos"/>
              </a:rPr>
              <a:t>SQL Server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45920" y="2057400"/>
            <a:ext cx="292608" cy="0"/>
          </a:xfrm>
          <a:prstGeom prst="line">
            <a:avLst/>
          </a:prstGeom>
          <a:ln w="21590">
            <a:solidFill>
              <a:srgbClr val="009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938528" y="1325880"/>
            <a:ext cx="135331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395728" y="1554480"/>
            <a:ext cx="438912" cy="438912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95728" y="154533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214884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7283B"/>
                </a:solidFill>
                <a:latin typeface="Aptos"/>
              </a:rPr>
              <a:t>Ingesta /
limpieza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91840" y="2057400"/>
            <a:ext cx="292608" cy="0"/>
          </a:xfrm>
          <a:prstGeom prst="line">
            <a:avLst/>
          </a:prstGeom>
          <a:ln w="21590">
            <a:solidFill>
              <a:srgbClr val="009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584448" y="1325880"/>
            <a:ext cx="135331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041648" y="1554480"/>
            <a:ext cx="438912" cy="438912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41648" y="154533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214884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7283B"/>
                </a:solidFill>
                <a:latin typeface="Aptos"/>
              </a:rPr>
              <a:t>Features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37760" y="2057400"/>
            <a:ext cx="292608" cy="0"/>
          </a:xfrm>
          <a:prstGeom prst="line">
            <a:avLst/>
          </a:prstGeom>
          <a:ln w="21590">
            <a:solidFill>
              <a:srgbClr val="009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230368" y="1325880"/>
            <a:ext cx="135331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687568" y="1554480"/>
            <a:ext cx="438912" cy="438912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87568" y="154533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214884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7283B"/>
                </a:solidFill>
                <a:latin typeface="Aptos"/>
              </a:rPr>
              <a:t>Modelo /
MLflow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0" y="2057400"/>
            <a:ext cx="292608" cy="0"/>
          </a:xfrm>
          <a:prstGeom prst="line">
            <a:avLst/>
          </a:prstGeom>
          <a:ln w="21590">
            <a:solidFill>
              <a:srgbClr val="009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876288" y="1325880"/>
            <a:ext cx="135331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33488" y="1554480"/>
            <a:ext cx="438912" cy="438912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33488" y="154533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214884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7283B"/>
                </a:solidFill>
                <a:latin typeface="Aptos"/>
              </a:rPr>
              <a:t>API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29600" y="2057400"/>
            <a:ext cx="292608" cy="0"/>
          </a:xfrm>
          <a:prstGeom prst="line">
            <a:avLst/>
          </a:prstGeom>
          <a:ln w="21590">
            <a:solidFill>
              <a:srgbClr val="009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522208" y="1325880"/>
            <a:ext cx="135331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979408" y="1554480"/>
            <a:ext cx="438912" cy="438912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79408" y="154533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14884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7283B"/>
                </a:solidFill>
                <a:latin typeface="Aptos"/>
              </a:rPr>
              <a:t>Docker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875520" y="2057400"/>
            <a:ext cx="292608" cy="0"/>
          </a:xfrm>
          <a:prstGeom prst="line">
            <a:avLst/>
          </a:prstGeom>
          <a:ln w="21590">
            <a:solidFill>
              <a:srgbClr val="009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10168128" y="1325880"/>
            <a:ext cx="135331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625328" y="1554480"/>
            <a:ext cx="438912" cy="438912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25328" y="154533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214884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7283B"/>
                </a:solidFill>
                <a:latin typeface="Aptos"/>
              </a:rPr>
              <a:t>Predicción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3657600"/>
            <a:ext cx="3291840" cy="1097280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8680" y="384048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1A646"/>
                </a:solidFill>
                <a:latin typeface="Aptos"/>
              </a:rPr>
              <a:t>TESTING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74519" y="384048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3539"/>
                </a:solidFill>
                <a:latin typeface="Aptos"/>
              </a:rPr>
              <a:t>Datos • Modelo • API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34840" y="3657600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681728" y="384048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97A3"/>
                </a:solidFill>
                <a:latin typeface="Aptos"/>
              </a:rPr>
              <a:t>MONITORING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81728" y="4178808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D6B6E"/>
                </a:solidFill>
                <a:latin typeface="Aptos"/>
              </a:rPr>
              <a:t>Pendiente de cierre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18120" y="3657600"/>
            <a:ext cx="3611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65008" y="3840480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7283B"/>
                </a:solidFill>
                <a:latin typeface="Aptos"/>
              </a:rPr>
              <a:t>DRIFT / ALERTAS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65008" y="4178808"/>
            <a:ext cx="2834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283539"/>
                </a:solidFill>
                <a:latin typeface="Aptos"/>
              </a:rPr>
              <a:t>PSI → OK / WARNING / ALERT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Estrategia de reentrenamiento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1234440"/>
            <a:ext cx="2423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7512" y="1417320"/>
            <a:ext cx="438912" cy="438912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148132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1444752" y="1874519"/>
            <a:ext cx="566928" cy="566928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44752" y="18653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63347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283B"/>
                </a:solidFill>
                <a:latin typeface="Aptos"/>
              </a:rPr>
              <a:t>Monitoreo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15468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83539"/>
                </a:solidFill>
                <a:latin typeface="Aptos"/>
              </a:rPr>
              <a:t>Detectar drift o degradación.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39" y="1234440"/>
            <a:ext cx="2423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456432" y="1417320"/>
            <a:ext cx="438912" cy="438912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56432" y="148132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3" name="Oval 32"/>
          <p:cNvSpPr/>
          <p:nvPr/>
        </p:nvSpPr>
        <p:spPr>
          <a:xfrm>
            <a:off x="4233672" y="1874519"/>
            <a:ext cx="566928" cy="566928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33672" y="18653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39" y="263347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283B"/>
                </a:solidFill>
                <a:latin typeface="Aptos"/>
              </a:rPr>
              <a:t>Análisis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59" y="315468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83539"/>
                </a:solidFill>
                <a:latin typeface="Aptos"/>
              </a:rPr>
              <a:t>Confirmar impacto en el modelo.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59" y="1234440"/>
            <a:ext cx="2423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245351" y="1417320"/>
            <a:ext cx="438912" cy="438912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5351" y="148132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Oval 39"/>
          <p:cNvSpPr/>
          <p:nvPr/>
        </p:nvSpPr>
        <p:spPr>
          <a:xfrm>
            <a:off x="7022592" y="1874519"/>
            <a:ext cx="566928" cy="566928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22592" y="18653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59" y="263347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283B"/>
                </a:solidFill>
                <a:latin typeface="Aptos"/>
              </a:rPr>
              <a:t>Reentrenar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79" y="315468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83539"/>
                </a:solidFill>
                <a:latin typeface="Aptos"/>
              </a:rPr>
              <a:t>Usar datos más recientes.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1234440"/>
            <a:ext cx="2423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034272" y="1417320"/>
            <a:ext cx="438912" cy="438912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34272" y="148132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7" name="Oval 46"/>
          <p:cNvSpPr/>
          <p:nvPr/>
        </p:nvSpPr>
        <p:spPr>
          <a:xfrm>
            <a:off x="9811511" y="1874519"/>
            <a:ext cx="566928" cy="566928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11511" y="18653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263347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7283B"/>
                </a:solidFill>
                <a:latin typeface="Aptos"/>
              </a:rPr>
              <a:t>Desplegar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315468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283539"/>
                </a:solidFill>
                <a:latin typeface="Aptos"/>
              </a:rPr>
              <a:t>Registrar una nueva versión.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" y="5120640"/>
            <a:ext cx="10241280" cy="566928"/>
          </a:xfrm>
          <a:prstGeom prst="roundRect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34440" y="5239512"/>
            <a:ext cx="9692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7283B"/>
                </a:solidFill>
                <a:latin typeface="Aptos"/>
              </a:rPr>
              <a:t>Una alerta no implica reentrenar automáticamente: primero se revisa si el cambio afecta el desempeño.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9738360" y="-658368"/>
            <a:ext cx="3108960" cy="1965960"/>
          </a:xfrm>
          <a:prstGeom prst="arc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10195560" y="-502920"/>
            <a:ext cx="2468880" cy="1554480"/>
          </a:xfrm>
          <a:prstGeom prst="arc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10744200" y="-320040"/>
            <a:ext cx="1828800" cy="1143000"/>
          </a:xfrm>
          <a:prstGeom prst="arc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-228600" y="6144768"/>
            <a:ext cx="6766560" cy="822960"/>
          </a:xfrm>
          <a:prstGeom prst="wav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4206240" y="6199632"/>
            <a:ext cx="8321040" cy="749808"/>
          </a:xfrm>
          <a:prstGeom prst="wav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-91440" y="6419088"/>
            <a:ext cx="12435840" cy="475488"/>
          </a:xfrm>
          <a:prstGeom prst="wave">
            <a:avLst/>
          </a:prstGeom>
          <a:solidFill>
            <a:srgbClr val="07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0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1A646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"/>
            <a:ext cx="1097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9CCF3E"/>
                </a:solidFill>
                <a:latin typeface="Aptos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"/>
            <a:ext cx="9052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7283B"/>
                </a:solidFill>
                <a:latin typeface="Aptos"/>
              </a:rPr>
              <a:t>Conclusiones</a:t>
            </a:r>
          </a:p>
        </p:txBody>
      </p:sp>
      <p:sp>
        <p:nvSpPr>
          <p:cNvPr id="11" name="Oval 10"/>
          <p:cNvSpPr/>
          <p:nvPr/>
        </p:nvSpPr>
        <p:spPr>
          <a:xfrm>
            <a:off x="10744200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81944" y="713232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00816" y="713232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4200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81944" y="832104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00816" y="832104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63072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1944" y="950976"/>
            <a:ext cx="29260" cy="29260"/>
          </a:xfrm>
          <a:prstGeom prst="ellipse">
            <a:avLst/>
          </a:prstGeom>
          <a:solidFill>
            <a:srgbClr val="9CC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00816" y="950976"/>
            <a:ext cx="29260" cy="29260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4360" y="1078992"/>
            <a:ext cx="6903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86384" y="1207007"/>
            <a:ext cx="329184" cy="329184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1197863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1152144"/>
            <a:ext cx="5897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83539"/>
                </a:solidFill>
                <a:latin typeface="Aptos"/>
              </a:rPr>
              <a:t>Flujo MLOps con datos, modelado, MLflow, API, Docker y pruebas.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1901952"/>
            <a:ext cx="6903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86384" y="2029968"/>
            <a:ext cx="329184" cy="329184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202082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1975104"/>
            <a:ext cx="5897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283539"/>
                </a:solidFill>
                <a:latin typeface="Aptos"/>
              </a:rPr>
              <a:t>29 pruebas aprobadas y ninguna prueba fallida.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2724912"/>
            <a:ext cx="6903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86384" y="2852928"/>
            <a:ext cx="329184" cy="329184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" y="284378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2798064"/>
            <a:ext cx="5897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83539"/>
                </a:solidFill>
                <a:latin typeface="Aptos"/>
              </a:rPr>
              <a:t>El PSI detectó drift natural en los datos reales.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3547872"/>
            <a:ext cx="6903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86384" y="3675887"/>
            <a:ext cx="329184" cy="329184"/>
          </a:xfrm>
          <a:prstGeom prst="ellipse">
            <a:avLst/>
          </a:prstGeom>
          <a:solidFill>
            <a:srgbClr val="009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366674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3621024"/>
            <a:ext cx="5897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283539"/>
                </a:solidFill>
                <a:latin typeface="Aptos"/>
              </a:rPr>
              <a:t>La simulación controlada llevó el Batch 3 de WARNING a ALERT.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370832"/>
            <a:ext cx="6903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86384" y="4498848"/>
            <a:ext cx="329184" cy="329184"/>
          </a:xfrm>
          <a:prstGeom prst="ellipse">
            <a:avLst/>
          </a:prstGeom>
          <a:solidFill>
            <a:srgbClr val="51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6384" y="448970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1872" y="4443984"/>
            <a:ext cx="5897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83539"/>
                </a:solidFill>
                <a:latin typeface="Aptos"/>
              </a:rPr>
              <a:t>El monitoreo permitirá apoyar decisiones de reentrenamiento.</a:t>
            </a:r>
          </a:p>
        </p:txBody>
      </p:sp>
      <p:sp>
        <p:nvSpPr>
          <p:cNvPr id="43" name="Oval 42"/>
          <p:cNvSpPr/>
          <p:nvPr/>
        </p:nvSpPr>
        <p:spPr>
          <a:xfrm>
            <a:off x="8366760" y="1325880"/>
            <a:ext cx="2834640" cy="2834640"/>
          </a:xfrm>
          <a:prstGeom prst="ellipse">
            <a:avLst/>
          </a:prstGeom>
          <a:solidFill>
            <a:srgbClr val="EDF7E9"/>
          </a:solidFill>
          <a:ln>
            <a:solidFill>
              <a:srgbClr val="C7E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66760" y="1847088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07283B"/>
                </a:solidFill>
                <a:latin typeface="Aptos"/>
              </a:rPr>
              <a:t>AIR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359152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097A3"/>
                </a:solidFill>
                <a:latin typeface="Aptos"/>
              </a:rPr>
              <a:t>QUALITY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518695"/>
            <a:ext cx="9875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51A646"/>
                </a:solidFill>
                <a:latin typeface="Aptos"/>
              </a:rPr>
              <a:t>Datos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4541" y="4535424"/>
            <a:ext cx="49377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0097A3"/>
                </a:solidFill>
                <a:latin typeface="Apto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0913" y="4544568"/>
            <a:ext cx="12801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 err="1">
                <a:solidFill>
                  <a:srgbClr val="07283B"/>
                </a:solidFill>
                <a:latin typeface="Aptos"/>
              </a:rPr>
              <a:t>Predicción</a:t>
            </a:r>
            <a:endParaRPr sz="1400" b="1" dirty="0">
              <a:solidFill>
                <a:srgbClr val="07283B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369296" y="4518696"/>
            <a:ext cx="49377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0097A3"/>
                </a:solidFill>
                <a:latin typeface="Aptos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37445" y="4527059"/>
            <a:ext cx="93660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 err="1">
                <a:solidFill>
                  <a:srgbClr val="51A646"/>
                </a:solidFill>
                <a:latin typeface="Aptos"/>
              </a:rPr>
              <a:t>Decisión</a:t>
            </a:r>
            <a:endParaRPr sz="1400" b="1" dirty="0">
              <a:solidFill>
                <a:srgbClr val="51A646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636</Words>
  <Application>Microsoft Office PowerPoint</Application>
  <PresentationFormat>Panorámica</PresentationFormat>
  <Paragraphs>225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KAROL</dc:creator>
  <cp:keywords/>
  <dc:description>generated using python-pptx</dc:description>
  <cp:lastModifiedBy>Károl Godínez Solís</cp:lastModifiedBy>
  <cp:revision>2</cp:revision>
  <dcterms:created xsi:type="dcterms:W3CDTF">2013-01-27T09:14:16Z</dcterms:created>
  <dcterms:modified xsi:type="dcterms:W3CDTF">2026-09-04T00:37:44Z</dcterms:modified>
  <cp:category/>
</cp:coreProperties>
</file>